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1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TRACK EDUCATION · TIM JADI H-1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1717A"/>
                </a:solidFill>
                <a:latin typeface="Plus Jakarta Sans"/>
              </a:defRPr>
            </a:pPr>
            <a: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C1E"/>
                </a:solidFill>
                <a:latin typeface="Plus Jakarta Sans"/>
              </a:defRPr>
            </a:pPr>
            <a:r>
              <a:t>Task Paralysis pada Penugasan Mahasiswa.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926080"/>
            <a:ext cx="3108960" cy="29260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457200"/>
          <a:lstStyle/>
          <a:p>
            <a:pPr algn="ctr">
              <a:defRPr sz="1800" b="1">
                <a:solidFill>
                  <a:srgbClr val="1C1C1E"/>
                </a:solidFill>
                <a:latin typeface="Plus Jakarta Sans"/>
              </a:defRPr>
            </a:pPr>
            <a:r>
              <a:t>Beban Multi-Matkul</a:t>
            </a:r>
          </a:p>
          <a:p>
            <a:pPr>
              <a:spcBef>
                <a:spcPts val="1400"/>
              </a:spcBef>
              <a:defRPr sz="1300">
                <a:solidFill>
                  <a:srgbClr val="71717A"/>
                </a:solidFill>
                <a:latin typeface="Plus Jakarta Sans"/>
              </a:defRPr>
            </a:pPr>
            <a:r>
              <a:t>Mahasiswa hadapi 4-7 modul tugas serentak dengan instruksi abstrak dan tebal (10-20 halaman).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926080"/>
            <a:ext cx="3108960" cy="29260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457200"/>
          <a:lstStyle/>
          <a:p>
            <a:pPr algn="ctr">
              <a:defRPr sz="1800" b="1">
                <a:solidFill>
                  <a:srgbClr val="1C1C1E"/>
                </a:solidFill>
                <a:latin typeface="Plus Jakarta Sans"/>
              </a:defRPr>
            </a:pPr>
            <a:r>
              <a:t>Cognitive Overload</a:t>
            </a:r>
          </a:p>
          <a:p>
            <a:pPr>
              <a:spcBef>
                <a:spcPts val="1400"/>
              </a:spcBef>
              <a:defRPr sz="1300">
                <a:solidFill>
                  <a:srgbClr val="71717A"/>
                </a:solidFill>
                <a:latin typeface="Plus Jakarta Sans"/>
              </a:defRPr>
            </a:pPr>
            <a:r>
              <a:t>Bukan malas, tapi otak mengalami freeze: buntu menentukan aksi pertama (where to start).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926080"/>
            <a:ext cx="3108960" cy="29260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457200"/>
          <a:lstStyle/>
          <a:p>
            <a:pPr algn="ctr">
              <a:defRPr sz="1800" b="1">
                <a:solidFill>
                  <a:srgbClr val="1C1C1E"/>
                </a:solidFill>
                <a:latin typeface="Plus Jakarta Sans"/>
              </a:defRPr>
            </a:pPr>
            <a:r>
              <a:t>Sistem Kebut Semalam</a:t>
            </a:r>
          </a:p>
          <a:p>
            <a:pPr>
              <a:spcBef>
                <a:spcPts val="1400"/>
              </a:spcBef>
              <a:defRPr sz="1300">
                <a:solidFill>
                  <a:srgbClr val="71717A"/>
                </a:solidFill>
                <a:latin typeface="Plus Jakarta Sans"/>
              </a:defRPr>
            </a:pPr>
            <a:r>
              <a:t>Berujung panik massal di malam H-1/H-0, mutu tugas akademik anjlok, dan memicu burnout.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EMPIRICAL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Mengapa Ini Penting? Bukti Nyata Lapangan.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560320"/>
            <a:ext cx="484632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71717A"/>
                </a:solidFill>
                <a:latin typeface="Plus Jakarta Sans"/>
              </a:defRPr>
            </a:pPr>
            <a:r>
              <a:t>LITERATUR AKADEMIS &amp; KAJIAN ILMIAH</a:t>
            </a:r>
          </a:p>
          <a:p>
            <a:pPr>
              <a:spcBef>
                <a:spcPts val="1000"/>
              </a:spcBef>
              <a:defRPr b="1" sz="1300">
                <a:solidFill>
                  <a:srgbClr val="1C1C1E"/>
                </a:solidFill>
              </a:defRPr>
            </a:pPr>
            <a:r>
              <a:t>Steel (2007) · APA Psych Bulletin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Meta-analisis bukti 80%-95% mahasiswa menunda tugas akibat aversivitas tugas &amp; impulsivitas.</a:t>
            </a:r>
          </a:p>
          <a:p>
            <a:pPr>
              <a:spcBef>
                <a:spcPts val="1000"/>
              </a:spcBef>
              <a:defRPr b="1" sz="1300">
                <a:solidFill>
                  <a:srgbClr val="1C1C1E"/>
                </a:solidFill>
              </a:defRPr>
            </a:pPr>
            <a:r>
              <a:t>Solomon &amp; Rothblum (1984)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Studi 342 mahasiswa: prokrastinasi melibatkan beban kognitif &amp; afektif, bukan sekadar manajemen waktu.</a:t>
            </a:r>
          </a:p>
          <a:p>
            <a:pPr>
              <a:spcBef>
                <a:spcPts val="1000"/>
              </a:spcBef>
              <a:defRPr b="1" sz="1300">
                <a:solidFill>
                  <a:srgbClr val="1C1C1E"/>
                </a:solidFill>
              </a:defRPr>
            </a:pPr>
            <a:r>
              <a:t>Gollwitzer &amp; Sheeran (2006)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Rencana aksi terarah berpeluang tinggi (d = .65) menggerakkan eksekusi tindakan nyata.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60320"/>
            <a:ext cx="484632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71717A"/>
                </a:solidFill>
                <a:latin typeface="Plus Jakarta Sans"/>
              </a:defRPr>
            </a:pPr>
            <a:r>
              <a:t>SURVEI TIM JADI H-1 (28 MAHASISWA)</a:t>
            </a:r>
          </a:p>
          <a:p>
            <a:pPr>
              <a:spcBef>
                <a:spcPts val="1000"/>
              </a:spcBef>
              <a:defRPr b="1" sz="1400">
                <a:solidFill>
                  <a:srgbClr val="DC2626"/>
                </a:solidFill>
              </a:defRPr>
            </a:pPr>
            <a:r>
              <a:t>78.6% Mengerjakan di Malam H-1 / H-0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Mayoritas mahasiswa sering atau selalu menunda tugas hingga malam sebelum batas akhir pengumpulan.</a:t>
            </a:r>
          </a:p>
          <a:p>
            <a:pPr>
              <a:spcBef>
                <a:spcPts val="1200"/>
              </a:spcBef>
              <a:defRPr b="1" sz="1400">
                <a:solidFill>
                  <a:srgbClr val="1C1C1E"/>
                </a:solidFill>
              </a:defRPr>
            </a:pPr>
            <a:r>
              <a:t>64.3% Buntu Menentukan Titik Awal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Alasan utama menunda adalah kebingungan saat membaca instruksi dan silabus modul yang tebal.</a:t>
            </a:r>
          </a:p>
          <a:p>
            <a:pPr>
              <a:spcBef>
                <a:spcPts val="1200"/>
              </a:spcBef>
              <a:defRPr b="1" sz="1400">
                <a:solidFill>
                  <a:srgbClr val="1C1C1E"/>
                </a:solidFill>
              </a:defRPr>
            </a:pPr>
            <a:r>
              <a:t>53.6% Pernah Terkena Penalti Nilai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Pernah gagal mengumpulkan tepat waktu, berdampak langsung pada performa indeks prestasi.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MARKET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Lanskap Solusi yang Ada Saat Ini.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51760"/>
            <a:ext cx="2377440" cy="33832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900" b="1">
                <a:solidFill>
                  <a:srgbClr val="71717A"/>
                </a:solidFill>
              </a:defRPr>
            </a:pPr>
            <a:r>
              <a:t>KATEGORI 01</a:t>
            </a:r>
          </a:p>
          <a:p>
            <a:pPr>
              <a:spcBef>
                <a:spcPts val="800"/>
              </a:spcBef>
              <a:defRPr sz="1400" b="1">
                <a:solidFill>
                  <a:srgbClr val="1C1C1E"/>
                </a:solidFill>
              </a:defRPr>
            </a:pPr>
            <a:r>
              <a:t>To-Do List Standar</a:t>
            </a:r>
          </a:p>
          <a:p>
            <a:pPr>
              <a:spcBef>
                <a:spcPts val="400"/>
              </a:spcBef>
              <a:defRPr sz="1000">
                <a:solidFill>
                  <a:srgbClr val="71717A"/>
                </a:solidFill>
              </a:defRPr>
            </a:pPr>
            <a:r>
              <a:t>Todoist, Google Tasks, Apple Reminders.</a:t>
            </a:r>
          </a:p>
          <a:p>
            <a:pPr>
              <a:spcBef>
                <a:spcPts val="1200"/>
              </a:spcBef>
              <a:defRPr sz="1100">
                <a:solidFill>
                  <a:srgbClr val="1C1C1E"/>
                </a:solidFill>
              </a:defRPr>
            </a:pPr>
            <a:r>
              <a:t>Hanya mencatat judul tugas &amp; tanggal deadline tanpa bimbingan aksi.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651760"/>
            <a:ext cx="2377440" cy="33832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900" b="1">
                <a:solidFill>
                  <a:srgbClr val="71717A"/>
                </a:solidFill>
              </a:defRPr>
            </a:pPr>
            <a:r>
              <a:t>KATEGORI 02</a:t>
            </a:r>
          </a:p>
          <a:p>
            <a:pPr>
              <a:spcBef>
                <a:spcPts val="800"/>
              </a:spcBef>
              <a:defRPr sz="1400" b="1">
                <a:solidFill>
                  <a:srgbClr val="1C1C1E"/>
                </a:solidFill>
              </a:defRPr>
            </a:pPr>
            <a:r>
              <a:t>Project Management</a:t>
            </a:r>
          </a:p>
          <a:p>
            <a:pPr>
              <a:spcBef>
                <a:spcPts val="400"/>
              </a:spcBef>
              <a:defRPr sz="1000">
                <a:solidFill>
                  <a:srgbClr val="71717A"/>
                </a:solidFill>
              </a:defRPr>
            </a:pPr>
            <a:r>
              <a:t>Notion, Trello, Asana, Jira.</a:t>
            </a:r>
          </a:p>
          <a:p>
            <a:pPr>
              <a:spcBef>
                <a:spcPts val="1200"/>
              </a:spcBef>
              <a:defRPr sz="1100">
                <a:solidFill>
                  <a:srgbClr val="1C1C1E"/>
                </a:solidFill>
              </a:defRPr>
            </a:pPr>
            <a:r>
              <a:t>Ditujukan untuk alur kerja tim, bukan memandu individu mahasiswa.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2377440" cy="33832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900" b="1">
                <a:solidFill>
                  <a:srgbClr val="71717A"/>
                </a:solidFill>
              </a:defRPr>
            </a:pPr>
            <a:r>
              <a:t>KATEGORI 03</a:t>
            </a:r>
          </a:p>
          <a:p>
            <a:pPr>
              <a:spcBef>
                <a:spcPts val="800"/>
              </a:spcBef>
              <a:defRPr sz="1400" b="1">
                <a:solidFill>
                  <a:srgbClr val="1C1C1E"/>
                </a:solidFill>
              </a:defRPr>
            </a:pPr>
            <a:r>
              <a:t>Kalender Pasif</a:t>
            </a:r>
          </a:p>
          <a:p>
            <a:pPr>
              <a:spcBef>
                <a:spcPts val="400"/>
              </a:spcBef>
              <a:defRPr sz="1000">
                <a:solidFill>
                  <a:srgbClr val="71717A"/>
                </a:solidFill>
              </a:defRPr>
            </a:pPr>
            <a:r>
              <a:t>Google Calendar, Apple iCal.</a:t>
            </a:r>
          </a:p>
          <a:p>
            <a:pPr>
              <a:spcBef>
                <a:spcPts val="1200"/>
              </a:spcBef>
              <a:defRPr sz="1100">
                <a:solidFill>
                  <a:srgbClr val="1C1C1E"/>
                </a:solidFill>
              </a:defRPr>
            </a:pPr>
            <a:r>
              <a:t>Hanya blok waktu statis tanpa memecah modul tugas menjadi langkah harian.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39" y="2651760"/>
            <a:ext cx="2377440" cy="33832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900" b="1">
                <a:solidFill>
                  <a:srgbClr val="71717A"/>
                </a:solidFill>
              </a:defRPr>
            </a:pPr>
            <a:r>
              <a:t>KATEGORI 04</a:t>
            </a:r>
          </a:p>
          <a:p>
            <a:pPr>
              <a:spcBef>
                <a:spcPts val="800"/>
              </a:spcBef>
              <a:defRPr sz="1400" b="1">
                <a:solidFill>
                  <a:srgbClr val="1C1C1E"/>
                </a:solidFill>
              </a:defRPr>
            </a:pPr>
            <a:r>
              <a:t>Catatan Manual</a:t>
            </a:r>
          </a:p>
          <a:p>
            <a:pPr>
              <a:spcBef>
                <a:spcPts val="400"/>
              </a:spcBef>
              <a:defRPr sz="1000">
                <a:solidFill>
                  <a:srgbClr val="71717A"/>
                </a:solidFill>
              </a:defRPr>
            </a:pPr>
            <a:r>
              <a:t>Notes HP, WhatsApp Grup Kelas.</a:t>
            </a:r>
          </a:p>
          <a:p>
            <a:pPr>
              <a:spcBef>
                <a:spcPts val="1200"/>
              </a:spcBef>
              <a:defRPr sz="1100">
                <a:solidFill>
                  <a:srgbClr val="1C1C1E"/>
                </a:solidFill>
              </a:defRPr>
            </a:pPr>
            <a:r>
              <a:t>Tenggelam dalam riwayat obrolan dan sangat rentan terlupa.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GAP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Kesenjangan Kritis Alat Produktivitas Populer.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51760"/>
            <a:ext cx="3108960" cy="2560320"/>
          </a:xfrm>
          <a:prstGeom prst="roundRect">
            <a:avLst/>
          </a:prstGeom>
          <a:solidFill>
            <a:srgbClr val="FEF2F2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BE123C"/>
                </a:solidFill>
              </a:defRPr>
            </a:pPr>
            <a:r>
              <a:t>GAP 01</a:t>
            </a:r>
          </a:p>
          <a:p>
            <a:pPr>
              <a:spcBef>
                <a:spcPts val="600"/>
              </a:spcBef>
              <a:defRPr sz="1600" b="1">
                <a:solidFill>
                  <a:srgbClr val="1C1C1E"/>
                </a:solidFill>
              </a:defRPr>
            </a:pPr>
            <a:r>
              <a:t>Deadline-Centric</a:t>
            </a:r>
          </a:p>
          <a:p>
            <a:pPr>
              <a:spcBef>
                <a:spcPts val="1000"/>
              </a:spcBef>
              <a:defRPr sz="1200">
                <a:solidFill>
                  <a:srgbClr val="71717A"/>
                </a:solidFill>
              </a:defRPr>
            </a:pPr>
            <a:r>
              <a:t>Mencatat tanggal pengumpulan tanpa memecah langkah kerja. Beban kognitif diserahkan 100% ke mahasiswa yang sedang kewalahan.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651760"/>
            <a:ext cx="3108960" cy="2560320"/>
          </a:xfrm>
          <a:prstGeom prst="roundRect">
            <a:avLst/>
          </a:prstGeom>
          <a:solidFill>
            <a:srgbClr val="FEF2F2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BE123C"/>
                </a:solidFill>
              </a:defRPr>
            </a:pPr>
            <a:r>
              <a:t>GAP 02</a:t>
            </a:r>
          </a:p>
          <a:p>
            <a:pPr>
              <a:spcBef>
                <a:spcPts val="600"/>
              </a:spcBef>
              <a:defRPr sz="1600" b="1">
                <a:solidFill>
                  <a:srgbClr val="1C1C1E"/>
                </a:solidFill>
              </a:defRPr>
            </a:pPr>
            <a:r>
              <a:t>Nir Micro-Pacing</a:t>
            </a:r>
          </a:p>
          <a:p>
            <a:pPr>
              <a:spcBef>
                <a:spcPts val="1000"/>
              </a:spcBef>
              <a:defRPr sz="1200">
                <a:solidFill>
                  <a:srgbClr val="71717A"/>
                </a:solidFill>
              </a:defRPr>
            </a:pPr>
            <a:r>
              <a:t>Tidak ada panduan porsi kerja harian yang aman. Menimbulkan ilusi waktu luang semu yang memicu penundaan hingga H-1.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651760"/>
            <a:ext cx="3108960" cy="2560320"/>
          </a:xfrm>
          <a:prstGeom prst="roundRect">
            <a:avLst/>
          </a:prstGeom>
          <a:solidFill>
            <a:srgbClr val="FEF2F2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BE123C"/>
                </a:solidFill>
              </a:defRPr>
            </a:pPr>
            <a:r>
              <a:t>GAP 03</a:t>
            </a:r>
          </a:p>
          <a:p>
            <a:pPr>
              <a:spcBef>
                <a:spcPts val="600"/>
              </a:spcBef>
              <a:defRPr sz="1600" b="1">
                <a:solidFill>
                  <a:srgbClr val="1C1C1E"/>
                </a:solidFill>
              </a:defRPr>
            </a:pPr>
            <a:r>
              <a:t>Setup Friction Tinggi</a:t>
            </a:r>
          </a:p>
          <a:p>
            <a:pPr>
              <a:spcBef>
                <a:spcPts val="1000"/>
              </a:spcBef>
              <a:defRPr sz="1200">
                <a:solidFill>
                  <a:srgbClr val="71717A"/>
                </a:solidFill>
              </a:defRPr>
            </a:pPr>
            <a:r>
              <a:t>Notion &amp; PM tools butuh konfigurasi database, board, dan tag manual. Energi habis sebelum pekerjaan sempat dimulai.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486400"/>
            <a:ext cx="9875520" cy="6400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C1C1E"/>
                </a:solidFill>
              </a:defRPr>
            </a:pPr>
            <a:r>
              <a:t>Hasil Survei Lapangan: 67.9% mahasiswa menggunakan to-do list, tetapi 57.1% merasa TIDAK EFEKTIF mengeksekusi tugas.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THE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KilasTugas: 4 Pilar Solusi Aksi Nyata.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300">
                <a:solidFill>
                  <a:srgbClr val="71717A"/>
                </a:solidFill>
              </a:defRPr>
            </a:pPr>
            <a:r>
              <a:t>"Jangan tanya kapan selesai, tanyakan apa yang dikerjakan hari ini."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743200"/>
            <a:ext cx="4846320" cy="146304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80160" y="2926080"/>
            <a:ext cx="457200" cy="45720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C1C1E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28803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C1C1E"/>
                </a:solidFill>
              </a:defRPr>
            </a:pPr>
            <a:r>
              <a:t>Actionable AI Chunking</a:t>
            </a:r>
          </a:p>
          <a:p>
            <a:pPr>
              <a:spcBef>
                <a:spcPts val="400"/>
              </a:spcBef>
              <a:defRPr sz="1100">
                <a:solidFill>
                  <a:srgbClr val="71717A"/>
                </a:solidFill>
              </a:defRPr>
            </a:pPr>
            <a:r>
              <a:t>Memecah silabus panjang menjadi 3-8 sub-tugas terukur (&lt;60 karakter) dengan estimasi waktu 25-90 menit.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4846320" cy="146304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457200" cy="45720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C1C1E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8803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C1C1E"/>
                </a:solidFill>
              </a:defRPr>
            </a:pPr>
            <a:r>
              <a:t>Visual Micro-Pacing Ring</a:t>
            </a:r>
          </a:p>
          <a:p>
            <a:pPr>
              <a:spcBef>
                <a:spcPts val="400"/>
              </a:spcBef>
              <a:defRPr sz="1100">
                <a:solidFill>
                  <a:srgbClr val="71717A"/>
                </a:solidFill>
              </a:defRPr>
            </a:pPr>
            <a:r>
              <a:t>Progress gauge harian otomatis yang memberi sinyal On Track, Behind Schedule, atau Overdue Alert.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389120"/>
            <a:ext cx="4846320" cy="146304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80160" y="4572000"/>
            <a:ext cx="457200" cy="45720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C1C1E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52628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C1C1E"/>
                </a:solidFill>
              </a:defRPr>
            </a:pPr>
            <a:r>
              <a:t>Persistent Pomodoro Engine</a:t>
            </a:r>
          </a:p>
          <a:p>
            <a:pPr>
              <a:spcBef>
                <a:spcPts val="400"/>
              </a:spcBef>
              <a:defRPr sz="1100">
                <a:solidFill>
                  <a:srgbClr val="71717A"/>
                </a:solidFill>
              </a:defRPr>
            </a:pPr>
            <a:r>
              <a:t>Floating timer 25/5 persisten di latar belakang tab browser dengan audio chime synthesizer.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4846320" cy="146304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4572000"/>
            <a:ext cx="457200" cy="45720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C1C1E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52628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C1C1E"/>
                </a:solidFill>
              </a:defRPr>
            </a:pPr>
            <a:r>
              <a:t>Blueprint Sharing (/p/:id)</a:t>
            </a:r>
          </a:p>
          <a:p>
            <a:pPr>
              <a:spcBef>
                <a:spcPts val="400"/>
              </a:spcBef>
              <a:defRPr sz="1100">
                <a:solidFill>
                  <a:srgbClr val="71717A"/>
                </a:solidFill>
              </a:defRPr>
            </a:pPr>
            <a:r>
              <a:t>Satu orang menyusun dekomposisi modul kelas, seluruh teman seangkatan bisa mengimpor dalam 1 detik.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PRODUCT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Alur Pengalaman Pengguna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286000"/>
            <a:ext cx="5669280" cy="621792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414016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3408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C1C1E"/>
                </a:solidFill>
              </a:defRPr>
            </a:pPr>
            <a:r>
              <a:t>Quick Input: </a:t>
            </a:r>
            <a:r>
              <a:rPr b="0" sz="1100">
                <a:solidFill>
                  <a:srgbClr val="71717A"/>
                </a:solidFill>
              </a:rPr>
              <a:t>Paste modul tugas kuliah dan pilih target 3-8 langkah.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971800"/>
            <a:ext cx="5669280" cy="621792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34440" y="3099816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266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C1C1E"/>
                </a:solidFill>
              </a:defRPr>
            </a:pPr>
            <a:r>
              <a:t>AI Decomposition: </a:t>
            </a:r>
            <a:r>
              <a:rPr b="0" sz="1100">
                <a:solidFill>
                  <a:srgbClr val="71717A"/>
                </a:solidFill>
              </a:rPr>
              <a:t>AI susun urutan aksi konkret dengan estimasi waktu terukur.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657600"/>
            <a:ext cx="5669280" cy="621792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3785616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124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C1C1E"/>
                </a:solidFill>
              </a:defRPr>
            </a:pPr>
            <a:r>
              <a:t>Today Focus &amp; Micro-Pacing: </a:t>
            </a:r>
            <a:r>
              <a:rPr b="0" sz="1100">
                <a:solidFill>
                  <a:srgbClr val="71717A"/>
                </a:solidFill>
              </a:rPr>
              <a:t>Pantau status On Track/Behind dan fokus kuota hari ini.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43400"/>
            <a:ext cx="5669280" cy="621792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34440" y="4471416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3982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C1C1E"/>
                </a:solidFill>
              </a:defRPr>
            </a:pPr>
            <a:r>
              <a:t>Persistent Pomodoro: </a:t>
            </a:r>
            <a:r>
              <a:rPr b="0" sz="1100">
                <a:solidFill>
                  <a:srgbClr val="71717A"/>
                </a:solidFill>
              </a:rPr>
              <a:t>Fokus 25/5 lewat floating timer dan lonceng audio.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029200"/>
            <a:ext cx="5669280" cy="621792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34440" y="5157216"/>
            <a:ext cx="365760" cy="36576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084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C1C1E"/>
                </a:solidFill>
              </a:defRPr>
            </a:pPr>
            <a:r>
              <a:t>Sync &amp; Peer Sharing: </a:t>
            </a:r>
            <a:r>
              <a:rPr b="0" sz="1100">
                <a:solidFill>
                  <a:srgbClr val="71717A"/>
                </a:solidFill>
              </a:rPr>
              <a:t>Ekspor kalender .ics/GCal dan bagikan blueprint sekelas.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760720"/>
            <a:ext cx="5669280" cy="457200"/>
          </a:xfrm>
          <a:prstGeom prst="roundRect">
            <a:avLst/>
          </a:prstGeom>
          <a:solidFill>
            <a:srgbClr val="ECFCCB"/>
          </a:solidFill>
          <a:ln>
            <a:solidFill>
              <a:srgbClr val="C7F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C1C1E"/>
                </a:solidFill>
              </a:defRPr>
            </a:pPr>
            <a:r>
              <a:t>Live Demo MVP: kilastugas.vercel.app  (Guest Mode Aktif)</a:t>
            </a:r>
          </a:p>
        </p:txBody>
      </p:sp>
      <p:pic>
        <p:nvPicPr>
          <p:cNvPr id="27" name="Picture 26" descr="mockupI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PRODUCT DEFENSE &amp; 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Teknologi: Bukan Sekadar AI Chatbot / Wrapper.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51760"/>
            <a:ext cx="310896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71717A"/>
                </a:solidFill>
              </a:defRPr>
            </a:pPr>
            <a:r>
              <a:t>01 · INFERENCE ENGINE</a:t>
            </a:r>
          </a:p>
          <a:p>
            <a:pPr>
              <a:spcBef>
                <a:spcPts val="800"/>
              </a:spcBef>
              <a:defRPr sz="1700" b="1">
                <a:solidFill>
                  <a:srgbClr val="1C1C1E"/>
                </a:solidFill>
              </a:defRPr>
            </a:pPr>
            <a:r>
              <a:t>9Router &amp; Gemini</a:t>
            </a:r>
          </a:p>
          <a:p>
            <a:pPr>
              <a:spcBef>
                <a:spcPts val="1200"/>
              </a:spcBef>
              <a:defRPr sz="1200">
                <a:solidFill>
                  <a:srgbClr val="71717A"/>
                </a:solidFill>
              </a:defRPr>
            </a:pPr>
            <a:r>
              <a:t>Model ag/gemini-3.7-flash-medium menghasilkan JSON Schema murni (aksi spesifik, durasi menit, target day offset), bukan sekadar teks percakapan bebas.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651760"/>
            <a:ext cx="310896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C7F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71717A"/>
                </a:solidFill>
              </a:defRPr>
            </a:pPr>
            <a:r>
              <a:t>02 · EXECUTION ECOSYSTEM</a:t>
            </a:r>
          </a:p>
          <a:p>
            <a:pPr>
              <a:spcBef>
                <a:spcPts val="800"/>
              </a:spcBef>
              <a:defRPr sz="1700" b="1">
                <a:solidFill>
                  <a:srgbClr val="1C1C1E"/>
                </a:solidFill>
              </a:defRPr>
            </a:pPr>
            <a:r>
              <a:t>Pacing &amp; Timer Nyata</a:t>
            </a:r>
          </a:p>
          <a:p>
            <a:pPr>
              <a:spcBef>
                <a:spcPts val="1200"/>
              </a:spcBef>
              <a:defRPr sz="1200">
                <a:solidFill>
                  <a:srgbClr val="71717A"/>
                </a:solidFill>
              </a:defRPr>
            </a:pPr>
            <a:r>
              <a:t>Setiap sub-tugas terhubung langsung ke Visual Progress Gauge matematis harian (On Track / Behind) dan Persistent Pomodoro Timer dengan chime bawaan.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651760"/>
            <a:ext cx="310896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71717A"/>
                </a:solidFill>
              </a:defRPr>
            </a:pPr>
            <a:r>
              <a:t>03 · ZERO DOWNTIME</a:t>
            </a:r>
          </a:p>
          <a:p>
            <a:pPr>
              <a:spcBef>
                <a:spcPts val="800"/>
              </a:spcBef>
              <a:defRPr sz="1700" b="1">
                <a:solidFill>
                  <a:srgbClr val="1C1C1E"/>
                </a:solidFill>
              </a:defRPr>
            </a:pPr>
            <a:r>
              <a:t>Smart Cache &amp; Fallback</a:t>
            </a:r>
          </a:p>
          <a:p>
            <a:pPr>
              <a:spcBef>
                <a:spcPts val="1200"/>
              </a:spcBef>
              <a:defRPr sz="1200">
                <a:solidFill>
                  <a:srgbClr val="71717A"/>
                </a:solidFill>
              </a:defRPr>
            </a:pPr>
            <a:r>
              <a:t>Cache MariaDB sajikan tugas sekelas &lt;20ms (hemat 70% token AI). Jika AI timeout, Deterministic Fallback kurikulum aktif otomatis tanpa downtime.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BUSINESS MODEL &amp; SUSTAINABILITY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Model Keberlanjutan: Social Open-Access.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51760"/>
            <a:ext cx="310896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C7F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71717A"/>
                </a:solidFill>
              </a:defRPr>
            </a:pPr>
            <a:r>
              <a:t>AKSESIBILITAS</a:t>
            </a:r>
          </a:p>
          <a:p>
            <a:pPr>
              <a:spcBef>
                <a:spcPts val="800"/>
              </a:spcBef>
              <a:defRPr sz="1600" b="1">
                <a:solidFill>
                  <a:srgbClr val="1C1C1E"/>
                </a:solidFill>
              </a:defRPr>
            </a:pPr>
            <a:r>
              <a:t>Zero-Barrier Adoption</a:t>
            </a:r>
          </a:p>
          <a:p>
            <a:pPr>
              <a:spcBef>
                <a:spcPts val="1200"/>
              </a:spcBef>
              <a:defRPr sz="1200">
                <a:solidFill>
                  <a:srgbClr val="71717A"/>
                </a:solidFill>
              </a:defRPr>
            </a:pPr>
            <a:r>
              <a:t>• Mode Guest tanpa form registrasi akun</a:t>
            </a:r>
            <a:br/>
            <a:r>
              <a:t>• Penetrasi pengguna masif di lingkungan kampus</a:t>
            </a:r>
            <a:br/>
            <a:r>
              <a:t>• Pertumbuhan organik via link Blueprint Sharing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651760"/>
            <a:ext cx="310896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71717A"/>
                </a:solidFill>
              </a:defRPr>
            </a:pPr>
            <a:r>
              <a:t>OPERASIONAL</a:t>
            </a:r>
          </a:p>
          <a:p>
            <a:pPr>
              <a:spcBef>
                <a:spcPts val="800"/>
              </a:spcBef>
              <a:defRPr sz="1600" b="1">
                <a:solidFill>
                  <a:srgbClr val="1C1C1E"/>
                </a:solidFill>
              </a:defRPr>
            </a:pPr>
            <a:r>
              <a:t>Ultra-Low Operating Cost</a:t>
            </a:r>
          </a:p>
          <a:p>
            <a:pPr>
              <a:spcBef>
                <a:spcPts val="1200"/>
              </a:spcBef>
              <a:defRPr sz="1200">
                <a:solidFill>
                  <a:srgbClr val="71717A"/>
                </a:solidFill>
              </a:defRPr>
            </a:pPr>
            <a:r>
              <a:t>• Smart Caching pangkas 70% konsumsi token AI</a:t>
            </a:r>
            <a:br/>
            <a:r>
              <a:t>• Hosting SPA statis gratis di Vercel Global Edge</a:t>
            </a:r>
            <a:br/>
            <a:r>
              <a:t>• Single low-cost VPS untuk backend FastAPI async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651760"/>
            <a:ext cx="310896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000" b="1">
                <a:solidFill>
                  <a:srgbClr val="71717A"/>
                </a:solidFill>
              </a:defRPr>
            </a:pPr>
            <a:r>
              <a:t>KEBERLANJUTAN</a:t>
            </a:r>
          </a:p>
          <a:p>
            <a:pPr>
              <a:spcBef>
                <a:spcPts val="800"/>
              </a:spcBef>
              <a:defRPr sz="1600" b="1">
                <a:solidFill>
                  <a:srgbClr val="1C1C1E"/>
                </a:solidFill>
              </a:defRPr>
            </a:pPr>
            <a:r>
              <a:t>Campus &amp; Faculty Support</a:t>
            </a:r>
          </a:p>
          <a:p>
            <a:pPr>
              <a:spcBef>
                <a:spcPts val="1200"/>
              </a:spcBef>
              <a:defRPr sz="1200">
                <a:solidFill>
                  <a:srgbClr val="71717A"/>
                </a:solidFill>
              </a:defRPr>
            </a:pPr>
            <a:r>
              <a:t>• Integrasi pemantauan tenggat tugas prodi/fakultas</a:t>
            </a:r>
            <a:br/>
            <a:r>
              <a:t>• Pendanaan operasional via hibah inovasi/PKM</a:t>
            </a:r>
            <a:br/>
            <a:r>
              <a:t>• Kemitraan penyediaan komputasi server universitas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SOCIAL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Dampak Nyata &amp; Metrik Keberhasilan.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51760"/>
            <a:ext cx="2377440" cy="33832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400" b="1">
                <a:solidFill>
                  <a:srgbClr val="1C1C1E"/>
                </a:solidFill>
              </a:defRPr>
            </a:pPr>
            <a:r>
              <a:t>&lt;5 Menit</a:t>
            </a:r>
          </a:p>
          <a:p>
            <a:pPr>
              <a:spcBef>
                <a:spcPts val="800"/>
              </a:spcBef>
              <a:defRPr sz="1300" b="1">
                <a:solidFill>
                  <a:srgbClr val="1C1C1E"/>
                </a:solidFill>
              </a:defRPr>
            </a:pPr>
            <a:r>
              <a:t>Inisiasi Tugas</a:t>
            </a:r>
          </a:p>
          <a:p>
            <a:pPr>
              <a:spcBef>
                <a:spcPts val="1000"/>
              </a:spcBef>
              <a:defRPr sz="1100">
                <a:solidFill>
                  <a:srgbClr val="71717A"/>
                </a:solidFill>
              </a:defRPr>
            </a:pPr>
            <a:r>
              <a:t>Memangkas waktu mulai dari hitungan hari menjadi hitungan menit.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651760"/>
            <a:ext cx="2377440" cy="33832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400" b="1">
                <a:solidFill>
                  <a:srgbClr val="1C1C1E"/>
                </a:solidFill>
              </a:defRPr>
            </a:pPr>
            <a:r>
              <a:t>+40%</a:t>
            </a:r>
          </a:p>
          <a:p>
            <a:pPr>
              <a:spcBef>
                <a:spcPts val="800"/>
              </a:spcBef>
              <a:defRPr sz="1300" b="1">
                <a:solidFill>
                  <a:srgbClr val="1C1C1E"/>
                </a:solidFill>
              </a:defRPr>
            </a:pPr>
            <a:r>
              <a:t>Completion Rate</a:t>
            </a:r>
          </a:p>
          <a:p>
            <a:pPr>
              <a:spcBef>
                <a:spcPts val="1000"/>
              </a:spcBef>
              <a:defRPr sz="1100">
                <a:solidFill>
                  <a:srgbClr val="71717A"/>
                </a:solidFill>
              </a:defRPr>
            </a:pPr>
            <a:r>
              <a:t>Target kenaikan ketepatan waktu pengumpulan tugas kuliah.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2377440" cy="33832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400" b="1">
                <a:solidFill>
                  <a:srgbClr val="1C1C1E"/>
                </a:solidFill>
              </a:defRPr>
            </a:pPr>
            <a:r>
              <a:t>0 Stres</a:t>
            </a:r>
          </a:p>
          <a:p>
            <a:pPr>
              <a:spcBef>
                <a:spcPts val="800"/>
              </a:spcBef>
              <a:defRPr sz="1300" b="1">
                <a:solidFill>
                  <a:srgbClr val="1C1C1E"/>
                </a:solidFill>
              </a:defRPr>
            </a:pPr>
            <a:r>
              <a:t>Eliminasi H-1</a:t>
            </a:r>
          </a:p>
          <a:p>
            <a:pPr>
              <a:spcBef>
                <a:spcPts val="1000"/>
              </a:spcBef>
              <a:defRPr sz="1100">
                <a:solidFill>
                  <a:srgbClr val="71717A"/>
                </a:solidFill>
              </a:defRPr>
            </a:pPr>
            <a:r>
              <a:t>Mengganti panik begadang semalam suntuk dengan kebiasaan mikro harian.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39" y="2651760"/>
            <a:ext cx="2377440" cy="3383280"/>
          </a:xfrm>
          <a:prstGeom prst="roundRect">
            <a:avLst/>
          </a:prstGeom>
          <a:solidFill>
            <a:srgbClr val="FBF9F6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2400" b="1">
                <a:solidFill>
                  <a:srgbClr val="1C1C1E"/>
                </a:solidFill>
              </a:defRPr>
            </a:pPr>
            <a:r>
              <a:t>1-Click</a:t>
            </a:r>
          </a:p>
          <a:p>
            <a:pPr>
              <a:spcBef>
                <a:spcPts val="800"/>
              </a:spcBef>
              <a:defRPr sz="1300" b="1">
                <a:solidFill>
                  <a:srgbClr val="1C1C1E"/>
                </a:solidFill>
              </a:defRPr>
            </a:pPr>
            <a:r>
              <a:t>Viral Peer Sharing</a:t>
            </a:r>
          </a:p>
          <a:p>
            <a:pPr>
              <a:spcBef>
                <a:spcPts val="1000"/>
              </a:spcBef>
              <a:defRPr sz="1100">
                <a:solidFill>
                  <a:srgbClr val="71717A"/>
                </a:solidFill>
              </a:defRPr>
            </a:pPr>
            <a:r>
              <a:t>Satu rencana tugas dapat membantu puluhan mahasiswa seangkatan sekaligus.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594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320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C1C1E"/>
                </a:solidFill>
                <a:latin typeface="Plus Jakarta Sans"/>
              </a:defRPr>
            </a:pPr>
            <a:r>
              <a:t>KilasTugas</a:t>
            </a:r>
          </a:p>
          <a:p>
            <a:pPr>
              <a:defRPr sz="1000">
                <a:solidFill>
                  <a:srgbClr val="71717A"/>
                </a:solidFill>
                <a:latin typeface="Plus Jakarta Sans"/>
              </a:defRPr>
            </a:pPr>
            <a:r>
              <a:t>Pitch Deck Grand Final: SIFest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" cy="320040"/>
          </a:xfrm>
          <a:prstGeom prst="roundRect">
            <a:avLst/>
          </a:prstGeom>
          <a:solidFill>
            <a:srgbClr val="C7F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1C1E"/>
                </a:solidFill>
                <a:latin typeface="Plus Jakarta Sans"/>
              </a:defRPr>
            </a:pPr>
            <a: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717A"/>
                </a:solidFill>
                <a:latin typeface="Plus Jakarta Sans"/>
              </a:defRPr>
            </a:pPr>
            <a:r>
              <a:t>THE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1C1E"/>
                </a:solidFill>
                <a:latin typeface="Plus Jakarta Sans"/>
              </a:defRPr>
            </a:pPr>
            <a:r>
              <a:t>Peta Jalan Pengembangan Produk.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51760"/>
            <a:ext cx="484632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C7F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71717A"/>
                </a:solidFill>
              </a:defRPr>
            </a:pPr>
            <a:r>
              <a:t>FASE 1: SAAT INI (MVP)</a:t>
            </a:r>
          </a:p>
          <a:p>
            <a:pPr>
              <a:spcBef>
                <a:spcPts val="600"/>
              </a:spcBef>
              <a:defRPr sz="1600" b="1">
                <a:solidFill>
                  <a:srgbClr val="1C1C1E"/>
                </a:solidFill>
              </a:defRPr>
            </a:pPr>
            <a:r>
              <a:t>Online Round (~50% Selesai)</a:t>
            </a:r>
          </a:p>
          <a:p>
            <a:pPr>
              <a:spcBef>
                <a:spcPts val="800"/>
              </a:spcBef>
              <a:defRPr sz="1200">
                <a:solidFill>
                  <a:srgbClr val="1C1C1E"/>
                </a:solidFill>
              </a:defRPr>
            </a:pPr>
            <a:r>
              <a:t>✓ AI Task Breakdown terarah (3-8 langkah kustom)</a:t>
            </a:r>
          </a:p>
          <a:p>
            <a:pPr>
              <a:spcBef>
                <a:spcPts val="800"/>
              </a:spcBef>
              <a:defRPr sz="1200">
                <a:solidFill>
                  <a:srgbClr val="1C1C1E"/>
                </a:solidFill>
              </a:defRPr>
            </a:pPr>
            <a:r>
              <a:t>✓ Visual Micro-Pacing ring &amp; circular gauge status</a:t>
            </a:r>
          </a:p>
          <a:p>
            <a:pPr>
              <a:spcBef>
                <a:spcPts val="800"/>
              </a:spcBef>
              <a:defRPr sz="1200">
                <a:solidFill>
                  <a:srgbClr val="1C1C1E"/>
                </a:solidFill>
              </a:defRPr>
            </a:pPr>
            <a:r>
              <a:t>✓ Persistent Pomodoro Timer di background tab</a:t>
            </a:r>
          </a:p>
          <a:p>
            <a:pPr>
              <a:spcBef>
                <a:spcPts val="800"/>
              </a:spcBef>
              <a:defRPr sz="1200">
                <a:solidFill>
                  <a:srgbClr val="1C1C1E"/>
                </a:solidFill>
              </a:defRPr>
            </a:pPr>
            <a:r>
              <a:t>✓ Blueprint URL sharing (/p/:id) &amp; ekspor iCal/GCal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4846320" cy="3474720"/>
          </a:xfrm>
          <a:prstGeom prst="roundRect">
            <a:avLst/>
          </a:prstGeom>
          <a:solidFill>
            <a:srgbClr val="FBF9F6"/>
          </a:solidFill>
          <a:ln>
            <a:solidFill>
              <a:srgbClr val="1C1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71717A"/>
                </a:solidFill>
              </a:defRPr>
            </a:pPr>
            <a:r>
              <a:t>FASE 2: GRAND FINAL SPRINT</a:t>
            </a:r>
          </a:p>
          <a:p>
            <a:pPr>
              <a:spcBef>
                <a:spcPts val="600"/>
              </a:spcBef>
              <a:defRPr sz="1600" b="1">
                <a:solidFill>
                  <a:srgbClr val="1C1C1E"/>
                </a:solidFill>
              </a:defRPr>
            </a:pPr>
            <a:r>
              <a:t>Product Sprint &amp; Defense</a:t>
            </a:r>
          </a:p>
          <a:p>
            <a:pPr>
              <a:spcBef>
                <a:spcPts val="800"/>
              </a:spcBef>
              <a:defRPr sz="1200">
                <a:solidFill>
                  <a:srgbClr val="71717A"/>
                </a:solidFill>
              </a:defRPr>
            </a:pPr>
            <a:r>
              <a:t>• AI Syllabus &amp; PDF Reader: Ekstraksi modul tugas tebal via drag-and-drop</a:t>
            </a:r>
          </a:p>
          <a:p>
            <a:pPr>
              <a:spcBef>
                <a:spcPts val="800"/>
              </a:spcBef>
              <a:defRPr sz="1200">
                <a:solidFill>
                  <a:srgbClr val="71717A"/>
                </a:solidFill>
              </a:defRPr>
            </a:pPr>
            <a:r>
              <a:t>• Web Push Notification: Alarm Service Worker saat peramban ditutup</a:t>
            </a:r>
          </a:p>
          <a:p>
            <a:pPr>
              <a:spcBef>
                <a:spcPts val="800"/>
              </a:spcBef>
              <a:defRPr sz="1200">
                <a:solidFill>
                  <a:srgbClr val="71717A"/>
                </a:solidFill>
              </a:defRPr>
            </a:pPr>
            <a:r>
              <a:t>• PWA Offline-First: Dukungan IndexedDB untuk akses nir-kuota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